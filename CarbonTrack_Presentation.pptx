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Relationship Id="rId3" Type="http://schemas.openxmlformats.org/officeDocument/2006/relationships/image" Target="../media/image8.jpg"/><Relationship Id="rId4" Type="http://schemas.openxmlformats.org/officeDocument/2006/relationships/image" Target="../media/image9.jpg"/><Relationship Id="rId5" Type="http://schemas.openxmlformats.org/officeDocument/2006/relationships/image" Target="../media/image10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71900" y="685800"/>
            <a:ext cx="1600200" cy="16002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74320" y="2457450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9800" b="1" i="0">
                <a:solidFill>
                  <a:srgbClr val="1B4332"/>
                </a:solidFill>
                <a:latin typeface="Calibri"/>
              </a:rPr>
              <a:t>CarbonTrack</a:t>
            </a:r>
          </a:p>
        </p:txBody>
      </p:sp>
      <p:pic>
        <p:nvPicPr>
          <p:cNvPr id="4" name="Picture 3" descr="NetiviIsrael.sv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43400"/>
            <a:ext cx="1463040" cy="514350"/>
          </a:xfrm>
          <a:prstGeom prst="rect">
            <a:avLst/>
          </a:prstGeom>
        </p:spPr>
      </p:pic>
      <p:pic>
        <p:nvPicPr>
          <p:cNvPr id="5" name="Picture 4" descr="Google_2015_logo.sv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57400" y="4343400"/>
            <a:ext cx="1463040" cy="514350"/>
          </a:xfrm>
          <a:prstGeom prst="rect">
            <a:avLst/>
          </a:prstGeom>
        </p:spPr>
      </p:pic>
      <p:pic>
        <p:nvPicPr>
          <p:cNvPr id="6" name="Picture 5" descr="Israel_National_Digital_Agency_logo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40480" y="4343400"/>
            <a:ext cx="1463040" cy="5143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623560" y="4343400"/>
            <a:ext cx="1463040" cy="51435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06640" y="4343400"/>
            <a:ext cx="1463040" cy="51435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742950"/>
            <a:ext cx="304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0" b="0" i="0">
                <a:solidFill>
                  <a:srgbClr val="1B4332"/>
                </a:solidFill>
                <a:latin typeface="Calibri"/>
              </a:rPr>
              <a:t>🏗️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1714500"/>
            <a:ext cx="304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400" b="1" i="0">
                <a:solidFill>
                  <a:srgbClr val="1B4332"/>
                </a:solidFill>
                <a:latin typeface="Calibri"/>
              </a:rPr>
              <a:t>חומרי בנייה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048000" y="742950"/>
            <a:ext cx="304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0" b="0" i="0">
                <a:solidFill>
                  <a:srgbClr val="1B4332"/>
                </a:solidFill>
                <a:latin typeface="Calibri"/>
              </a:rPr>
              <a:t>☁️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48000" y="1714500"/>
            <a:ext cx="304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400" b="1" i="0">
                <a:solidFill>
                  <a:srgbClr val="1B4332"/>
                </a:solidFill>
                <a:latin typeface="Calibri"/>
              </a:rPr>
              <a:t>פליטות CO₂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0" y="742950"/>
            <a:ext cx="3048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0" b="0" i="0">
                <a:solidFill>
                  <a:srgbClr val="1B4332"/>
                </a:solidFill>
                <a:latin typeface="Calibri"/>
              </a:rPr>
              <a:t>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96000" y="1714500"/>
            <a:ext cx="3048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400" b="1" i="0">
                <a:solidFill>
                  <a:srgbClr val="1B4332"/>
                </a:solidFill>
                <a:latin typeface="Calibri"/>
              </a:rPr>
              <a:t>פגיעה באטמוספירה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05100" y="914400"/>
            <a:ext cx="685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52B788"/>
                </a:solidFill>
                <a:latin typeface="Calibri"/>
              </a:rPr>
              <a:t>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53100" y="914400"/>
            <a:ext cx="6858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0" i="0">
                <a:solidFill>
                  <a:srgbClr val="52B788"/>
                </a:solidFill>
                <a:latin typeface="Calibri"/>
              </a:rPr>
              <a:t>←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71950" y="2514600"/>
            <a:ext cx="800100" cy="22860"/>
          </a:xfrm>
          <a:prstGeom prst="rect">
            <a:avLst/>
          </a:prstGeom>
          <a:solidFill>
            <a:srgbClr val="C8DD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686050"/>
            <a:ext cx="8595360" cy="21717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7500" b="1">
                <a:solidFill>
                  <a:srgbClr val="1B4332"/>
                </a:solidFill>
                <a:latin typeface="Calibri"/>
              </a:rPr>
              <a:t>אי אפשר לצמצם</a:t>
            </a:r>
          </a:p>
          <a:p>
            <a:pPr algn="ctr" rtl="1"/>
            <a:r>
              <a:rPr sz="7500" b="1">
                <a:solidFill>
                  <a:srgbClr val="1B4332"/>
                </a:solidFill>
                <a:latin typeface="Calibri"/>
              </a:rPr>
              <a:t>את מה שלא מודדים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45148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146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הצוות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657225"/>
            <a:ext cx="8595360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0" i="0">
                <a:solidFill>
                  <a:srgbClr val="4A7C59"/>
                </a:solidFill>
                <a:latin typeface="Calibri"/>
              </a:rPr>
              <a:t>סטודנטים להנדסת חשמל ומחשבים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6806565" y="1017270"/>
            <a:ext cx="2063115" cy="403479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asaf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29425" y="1040130"/>
            <a:ext cx="2017395" cy="250156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909435" y="3598849"/>
            <a:ext cx="1857375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B4332"/>
                </a:solidFill>
                <a:latin typeface="Calibri"/>
              </a:rPr>
              <a:t>אסף שדה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909435" y="3941749"/>
            <a:ext cx="1857375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>
                <a:solidFill>
                  <a:srgbClr val="8AAA8E"/>
                </a:solidFill>
                <a:latin typeface="Calibri"/>
              </a:rPr>
              <a:t>לוחם יחידת אגוז</a:t>
            </a:r>
          </a:p>
          <a:p>
            <a:pPr algn="r" rtl="1"/>
            <a:r>
              <a:rPr sz="2100" b="0">
                <a:solidFill>
                  <a:srgbClr val="8AAA8E"/>
                </a:solidFill>
                <a:latin typeface="Calibri"/>
              </a:rPr>
              <a:t>משרת מילואים פעיל</a:t>
            </a:r>
          </a:p>
        </p:txBody>
      </p:sp>
      <p:sp>
        <p:nvSpPr>
          <p:cNvPr id="9" name="Rectangle 8"/>
          <p:cNvSpPr/>
          <p:nvPr/>
        </p:nvSpPr>
        <p:spPr>
          <a:xfrm>
            <a:off x="4629150" y="1017270"/>
            <a:ext cx="2063115" cy="403479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g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2010" y="1040130"/>
            <a:ext cx="2017395" cy="250156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732020" y="3598849"/>
            <a:ext cx="1857375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B4332"/>
                </a:solidFill>
                <a:latin typeface="Calibri"/>
              </a:rPr>
              <a:t>גל הראל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32020" y="3941749"/>
            <a:ext cx="1857375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>
                <a:solidFill>
                  <a:srgbClr val="8AAA8E"/>
                </a:solidFill>
                <a:latin typeface="Calibri"/>
              </a:rPr>
              <a:t>יחידה 9900</a:t>
            </a:r>
          </a:p>
          <a:p>
            <a:pPr algn="r" rtl="1"/>
            <a:r>
              <a:rPr sz="2100" b="0">
                <a:solidFill>
                  <a:srgbClr val="8AAA8E"/>
                </a:solidFill>
                <a:latin typeface="Calibri"/>
              </a:rPr>
              <a:t>משרתת מילואים פעילה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51735" y="1017270"/>
            <a:ext cx="2063115" cy="403479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mika.jp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74595" y="1040130"/>
            <a:ext cx="2017395" cy="250156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54605" y="3598849"/>
            <a:ext cx="1857375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B4332"/>
                </a:solidFill>
                <a:latin typeface="Calibri"/>
              </a:rPr>
              <a:t>מיקה הרפז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54605" y="3941749"/>
            <a:ext cx="1857375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>
                <a:solidFill>
                  <a:srgbClr val="8AAA8E"/>
                </a:solidFill>
                <a:latin typeface="Calibri"/>
              </a:rPr>
              <a:t>יחידה 8200 · מודיעין אותות</a:t>
            </a:r>
          </a:p>
          <a:p>
            <a:pPr algn="r" rtl="1"/>
            <a:r>
              <a:rPr sz="2100" b="0">
                <a:solidFill>
                  <a:srgbClr val="8AAA8E"/>
                </a:solidFill>
                <a:latin typeface="Calibri"/>
              </a:rPr>
              <a:t>משרתת מילואים פעילה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017270"/>
            <a:ext cx="2063115" cy="403479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hira.jp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180" y="1040130"/>
            <a:ext cx="2017395" cy="250156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77190" y="3598849"/>
            <a:ext cx="1857375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B4332"/>
                </a:solidFill>
                <a:latin typeface="Calibri"/>
              </a:rPr>
              <a:t>שירה זיגדון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7190" y="3941749"/>
            <a:ext cx="1857375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>
                <a:solidFill>
                  <a:srgbClr val="8AAA8E"/>
                </a:solidFill>
                <a:latin typeface="Calibri"/>
              </a:rPr>
              <a:t>יחידה 8200 · חוקרת RF</a:t>
            </a:r>
          </a:p>
          <a:p>
            <a:pPr algn="r" rtl="1"/>
            <a:r>
              <a:rPr sz="2100" b="0">
                <a:solidFill>
                  <a:srgbClr val="8AAA8E"/>
                </a:solidFill>
                <a:latin typeface="Calibri"/>
              </a:rPr>
              <a:t>משרתת מילואים פעילה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86600" y="251460"/>
            <a:ext cx="1714500" cy="5715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הבעיה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542925"/>
            <a:ext cx="85953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1100" b="1" i="0">
                <a:solidFill>
                  <a:srgbClr val="C07A2A"/>
                </a:solidFill>
                <a:latin typeface="Calibri"/>
              </a:rPr>
              <a:t>81M טון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914525"/>
            <a:ext cx="85953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400" b="1" i="0">
                <a:solidFill>
                  <a:srgbClr val="4A7C59"/>
                </a:solidFill>
                <a:latin typeface="Calibri"/>
              </a:rPr>
              <a:t>CO₂ נפלטים מדי שנה בישראל</a:t>
            </a:r>
          </a:p>
        </p:txBody>
      </p:sp>
      <p:sp>
        <p:nvSpPr>
          <p:cNvPr id="5" name="Rectangle 4"/>
          <p:cNvSpPr/>
          <p:nvPr/>
        </p:nvSpPr>
        <p:spPr>
          <a:xfrm>
            <a:off x="4629150" y="2371725"/>
            <a:ext cx="4240530" cy="942975"/>
          </a:xfrm>
          <a:prstGeom prst="rect">
            <a:avLst/>
          </a:prstGeom>
          <a:solidFill>
            <a:srgbClr val="FFFFFF"/>
          </a:solidFill>
          <a:ln w="2540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743450" y="2474595"/>
            <a:ext cx="406908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700" b="1" i="0">
                <a:solidFill>
                  <a:srgbClr val="1B4332"/>
                </a:solidFill>
                <a:latin typeface="Calibri"/>
              </a:rPr>
              <a:t>שינויים קיצוניים במזג האוויר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43450" y="2897505"/>
            <a:ext cx="4069080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8AAA8E"/>
                </a:solidFill>
                <a:latin typeface="Calibri"/>
              </a:rPr>
              <a:t>גלי חום, הצפות ונזקים של מיליונים בכל חורף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371725"/>
            <a:ext cx="4240530" cy="942975"/>
          </a:xfrm>
          <a:prstGeom prst="rect">
            <a:avLst/>
          </a:prstGeom>
          <a:solidFill>
            <a:srgbClr val="FFFFFF"/>
          </a:solidFill>
          <a:ln w="2540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8620" y="2451735"/>
            <a:ext cx="4069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200" b="1" i="0">
                <a:solidFill>
                  <a:srgbClr val="1B4332"/>
                </a:solidFill>
                <a:latin typeface="Calibri"/>
              </a:rPr>
              <a:t>2,500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8620" y="2931795"/>
            <a:ext cx="4069080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8AAA8E"/>
                </a:solidFill>
                <a:latin typeface="Calibri"/>
              </a:rPr>
              <a:t>ישראלים מתים מדי שנה כתוצאה ישירה מזיהום אוויר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" y="3417570"/>
            <a:ext cx="8595360" cy="15544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5770" y="3531870"/>
            <a:ext cx="68580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6800" b="0" i="0">
                <a:solidFill>
                  <a:srgbClr val="1B4332"/>
                </a:solidFill>
                <a:latin typeface="Calibri"/>
              </a:rPr>
              <a:t>🏗️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503295"/>
            <a:ext cx="7566660" cy="6572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000" b="1" i="0">
                <a:solidFill>
                  <a:srgbClr val="95D5B2"/>
                </a:solidFill>
                <a:latin typeface="Calibri"/>
              </a:rPr>
              <a:t>יותר מ-10%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4177665"/>
            <a:ext cx="75666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0" i="0">
                <a:solidFill>
                  <a:srgbClr val="FFFFFF"/>
                </a:solidFill>
                <a:latin typeface="Calibri"/>
              </a:rPr>
              <a:t>מסך הפליטות הישראליות מגיע מענף התשתיות בלבד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589145"/>
            <a:ext cx="7566660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000" b="1" i="0">
                <a:solidFill>
                  <a:srgbClr val="95D5B2"/>
                </a:solidFill>
                <a:latin typeface="Calibri"/>
              </a:rPr>
              <a:t>← זה הנתח שאנחנו באים לטפל בו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45148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146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המדידה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0100"/>
            <a:ext cx="85953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900" b="1" i="0">
                <a:solidFill>
                  <a:srgbClr val="1B4332"/>
                </a:solidFill>
                <a:latin typeface="Calibri"/>
              </a:rPr>
              <a:t>פרוטוקול GHG — כיצד מודדים?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00150"/>
            <a:ext cx="4251960" cy="34290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77190" y="1303020"/>
            <a:ext cx="4080510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95D5B2"/>
                </a:solidFill>
                <a:latin typeface="Calibri"/>
              </a:rPr>
              <a:t>SCOPE 3 — הבעיה האמיתית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7190" y="1657350"/>
            <a:ext cx="408051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300" b="1" i="0">
                <a:solidFill>
                  <a:srgbClr val="FFFFFF"/>
                </a:solidFill>
                <a:latin typeface="Calibri"/>
              </a:rPr>
              <a:t>שרשרת האספקה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7190" y="2103120"/>
            <a:ext cx="408051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>
                <a:solidFill>
                  <a:srgbClr val="FFFFFF"/>
                </a:solidFill>
                <a:latin typeface="Calibri"/>
              </a:rPr>
              <a:t>ייצור חומרים, הובלה, קבלני משנה —</a:t>
            </a:r>
          </a:p>
          <a:p>
            <a:pPr algn="r" rtl="1"/>
            <a:r>
              <a:rPr sz="2100" b="0">
                <a:solidFill>
                  <a:srgbClr val="FFFFFF"/>
                </a:solidFill>
                <a:latin typeface="Calibri"/>
              </a:rPr>
              <a:t>וזה בדיוק מה שאנחנו פותרים.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7190" y="2886075"/>
            <a:ext cx="4080510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1" i="0">
                <a:solidFill>
                  <a:srgbClr val="95D5B2"/>
                </a:solidFill>
                <a:latin typeface="Calibri"/>
              </a:rPr>
              <a:t>70%–90% מסך הפליטות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7190" y="3303270"/>
            <a:ext cx="4046220" cy="57150"/>
          </a:xfrm>
          <a:prstGeom prst="rect">
            <a:avLst/>
          </a:prstGeom>
          <a:solidFill>
            <a:srgbClr val="4070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7190" y="3303270"/>
            <a:ext cx="3439287" cy="57150"/>
          </a:xfrm>
          <a:prstGeom prst="rect">
            <a:avLst/>
          </a:prstGeom>
          <a:solidFill>
            <a:srgbClr val="95D5B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4709160"/>
            <a:ext cx="42519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600" b="1" i="0">
                <a:solidFill>
                  <a:srgbClr val="1B4332"/>
                </a:solidFill>
                <a:latin typeface="Calibri"/>
              </a:rPr>
              <a:t>✗ קשה למדידה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617720" y="1200150"/>
            <a:ext cx="2080260" cy="3429000"/>
          </a:xfrm>
          <a:prstGeom prst="rect">
            <a:avLst/>
          </a:prstGeom>
          <a:solidFill>
            <a:srgbClr val="FDE8B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09160" y="1303020"/>
            <a:ext cx="1943100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6B3A0D"/>
                </a:solidFill>
                <a:latin typeface="Calibri"/>
              </a:rPr>
              <a:t>SCOPE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09160" y="1588770"/>
            <a:ext cx="1943100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6B3A0D"/>
                </a:solidFill>
                <a:latin typeface="Calibri"/>
              </a:rPr>
              <a:t>אנרגיה נרכשת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2028825"/>
            <a:ext cx="194310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6B3A0D"/>
                </a:solidFill>
                <a:latin typeface="Calibri"/>
              </a:rPr>
              <a:t>חשמל וחום נרכש מספקים.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789420" y="1200150"/>
            <a:ext cx="2080260" cy="3429000"/>
          </a:xfrm>
          <a:prstGeom prst="rect">
            <a:avLst/>
          </a:prstGeom>
          <a:solidFill>
            <a:srgbClr val="C8E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80860" y="1303020"/>
            <a:ext cx="1943100" cy="2400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 i="0">
                <a:solidFill>
                  <a:srgbClr val="0D3B6E"/>
                </a:solidFill>
                <a:latin typeface="Calibri"/>
              </a:rPr>
              <a:t>SCOPE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80860" y="1588770"/>
            <a:ext cx="1943100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800" b="1" i="0">
                <a:solidFill>
                  <a:srgbClr val="0D3B6E"/>
                </a:solidFill>
                <a:latin typeface="Calibri"/>
              </a:rPr>
              <a:t>פליטות ישירות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80860" y="2028825"/>
            <a:ext cx="1943100" cy="7429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0D3B6E"/>
                </a:solidFill>
                <a:latin typeface="Calibri"/>
              </a:rPr>
              <a:t>שריפת דלק ישירה בציוד הארגון.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20" y="4709160"/>
            <a:ext cx="425196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600" b="1" i="0">
                <a:solidFill>
                  <a:srgbClr val="1B4332"/>
                </a:solidFill>
                <a:latin typeface="Calibri"/>
              </a:rPr>
              <a:t>✓ קל למדידה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45148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146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ההקשר העולמי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0100"/>
            <a:ext cx="85953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900" b="1" i="0">
                <a:solidFill>
                  <a:srgbClr val="1B4332"/>
                </a:solidFill>
                <a:latin typeface="Calibri"/>
              </a:rPr>
              <a:t>ישראל מחויבת — חסר הכלי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188720"/>
            <a:ext cx="8595360" cy="600075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188720"/>
            <a:ext cx="8595360" cy="6000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3200" b="1" i="0">
                <a:solidFill>
                  <a:srgbClr val="95D5B2"/>
                </a:solidFill>
                <a:latin typeface="Calibri"/>
              </a:rPr>
              <a:t>🕊️   הסכם פריז 2015</a:t>
            </a:r>
          </a:p>
        </p:txBody>
      </p:sp>
      <p:sp>
        <p:nvSpPr>
          <p:cNvPr id="7" name="Rectangle 6"/>
          <p:cNvSpPr/>
          <p:nvPr/>
        </p:nvSpPr>
        <p:spPr>
          <a:xfrm>
            <a:off x="6065520" y="1880235"/>
            <a:ext cx="2804160" cy="3171825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179820" y="1994535"/>
            <a:ext cx="2632710" cy="105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400" b="1" i="0">
                <a:solidFill>
                  <a:srgbClr val="52B788"/>
                </a:solidFill>
                <a:latin typeface="Calibri"/>
              </a:rPr>
              <a:t>2030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79820" y="3108960"/>
            <a:ext cx="2632710" cy="1857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>
                <a:solidFill>
                  <a:srgbClr val="4A7C59"/>
                </a:solidFill>
                <a:latin typeface="Calibri"/>
              </a:rPr>
              <a:t>ישראל: צמצום פליטות בכ-30%</a:t>
            </a:r>
          </a:p>
          <a:p>
            <a:pPr algn="r" rtl="1"/>
            <a:r>
              <a:rPr sz="2100" b="0">
                <a:solidFill>
                  <a:srgbClr val="4A7C59"/>
                </a:solidFill>
                <a:latin typeface="Calibri"/>
              </a:rPr>
              <a:t>ביחס ל-2015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69920" y="1880235"/>
            <a:ext cx="2804160" cy="3171825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84220" y="1994535"/>
            <a:ext cx="2632710" cy="105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400" b="1" i="0">
                <a:solidFill>
                  <a:srgbClr val="52B788"/>
                </a:solidFill>
                <a:latin typeface="Calibri"/>
              </a:rPr>
              <a:t>2050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84220" y="3108960"/>
            <a:ext cx="2632710" cy="1857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>
                <a:solidFill>
                  <a:srgbClr val="4A7C59"/>
                </a:solidFill>
                <a:latin typeface="Calibri"/>
              </a:rPr>
              <a:t>יעד Net Zero —</a:t>
            </a:r>
          </a:p>
          <a:p>
            <a:pPr algn="r" rtl="1"/>
            <a:r>
              <a:rPr sz="2100" b="0">
                <a:solidFill>
                  <a:srgbClr val="4A7C59"/>
                </a:solidFill>
                <a:latin typeface="Calibri"/>
              </a:rPr>
              <a:t>ניטרליות פחמנית מלאה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74320" y="1880235"/>
            <a:ext cx="2804160" cy="3171825"/>
          </a:xfrm>
          <a:prstGeom prst="rect">
            <a:avLst/>
          </a:prstGeom>
          <a:solidFill>
            <a:srgbClr val="FEF3C7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88620" y="1994535"/>
            <a:ext cx="2632710" cy="1057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5400" b="1" i="0">
                <a:solidFill>
                  <a:srgbClr val="92400E"/>
                </a:solidFill>
                <a:latin typeface="Calibri"/>
              </a:rPr>
              <a:t>היום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8620" y="3108960"/>
            <a:ext cx="2632710" cy="18573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>
                <a:solidFill>
                  <a:srgbClr val="78350F"/>
                </a:solidFill>
                <a:latin typeface="Calibri"/>
              </a:rPr>
              <a:t>אין כלי מדידה מעשי —</a:t>
            </a:r>
          </a:p>
          <a:p>
            <a:pPr algn="r" rtl="1"/>
            <a:r>
              <a:rPr sz="2100" b="0">
                <a:solidFill>
                  <a:srgbClr val="78350F"/>
                </a:solidFill>
                <a:latin typeface="Calibri"/>
              </a:rPr>
              <a:t>CarbonTrack ממלאת את הפער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42900" y="742950"/>
            <a:ext cx="4114800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95D5B2"/>
                </a:solidFill>
                <a:latin typeface="Calibri"/>
              </a:rPr>
              <a:t>✅  עם CarbonTrack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" y="113157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600" b="1" i="0">
                <a:solidFill>
                  <a:srgbClr val="FFFFFF"/>
                </a:solidFill>
                <a:latin typeface="Calibri"/>
              </a:rPr>
              <a:t>העתיד הקרוב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2900" y="1800225"/>
            <a:ext cx="411480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0" i="0">
                <a:solidFill>
                  <a:srgbClr val="FFFFFF"/>
                </a:solidFill>
                <a:latin typeface="Calibri"/>
              </a:rPr>
              <a:t>✓  Scope 3 מלא לפי GHG Protocol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2900" y="2428875"/>
            <a:ext cx="411480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0" i="0">
                <a:solidFill>
                  <a:srgbClr val="FFFFFF"/>
                </a:solidFill>
                <a:latin typeface="Calibri"/>
              </a:rPr>
              <a:t>✓  תוצאות בזמן אמת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2900" y="3057525"/>
            <a:ext cx="411480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0" i="0">
                <a:solidFill>
                  <a:srgbClr val="FFFFFF"/>
                </a:solidFill>
                <a:latin typeface="Calibri"/>
              </a:rPr>
              <a:t>✓  חישוב מבוסס AI, לא הצהרה בלבד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" y="3686175"/>
            <a:ext cx="411480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400" b="0" i="0">
                <a:solidFill>
                  <a:srgbClr val="FFFFFF"/>
                </a:solidFill>
                <a:latin typeface="Calibri"/>
              </a:rPr>
              <a:t>✓  מעקב רגולטורי מפוקח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914900" y="742950"/>
            <a:ext cx="4114800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2600" b="1" i="0">
                <a:solidFill>
                  <a:srgbClr val="C0392B"/>
                </a:solidFill>
                <a:latin typeface="Calibri"/>
              </a:rPr>
              <a:t>❌  ללא CarbonTrack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14900" y="113157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600" b="1" i="0">
                <a:solidFill>
                  <a:srgbClr val="1B4332"/>
                </a:solidFill>
                <a:latin typeface="Calibri"/>
              </a:rPr>
              <a:t>המצב היום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14900" y="1543050"/>
            <a:ext cx="4114800" cy="2057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0" b="1" i="0">
                <a:solidFill>
                  <a:srgbClr val="E07B7B"/>
                </a:solidFill>
                <a:latin typeface="Calibri"/>
              </a:rPr>
              <a:t>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14900" y="3771900"/>
            <a:ext cx="4114800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200" b="1" i="0">
                <a:solidFill>
                  <a:srgbClr val="4A7C59"/>
                </a:solidFill>
                <a:latin typeface="Calibri"/>
              </a:rPr>
              <a:t>חברות תשתית ישראליות מחשבות Scope 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14900" y="4229100"/>
            <a:ext cx="411480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0" i="0">
                <a:solidFill>
                  <a:srgbClr val="4A7C59"/>
                </a:solidFill>
                <a:latin typeface="Calibri"/>
              </a:rPr>
              <a:t>✗  חברות בינלאומיות — לא מותאמות לשוק התשתיות הישראלי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43400" y="2400300"/>
            <a:ext cx="457200" cy="342900"/>
          </a:xfrm>
          <a:prstGeom prst="rect">
            <a:avLst/>
          </a:prstGeom>
          <a:solidFill>
            <a:srgbClr val="F5F2EB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43400" y="2400300"/>
            <a:ext cx="45720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B4332"/>
                </a:solidFill>
                <a:latin typeface="Calibri"/>
              </a:rPr>
              <a:t>VS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45148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146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הדגמה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0100"/>
            <a:ext cx="85953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900" b="1" i="0">
                <a:solidFill>
                  <a:srgbClr val="1B4332"/>
                </a:solidFill>
                <a:latin typeface="Calibri"/>
              </a:rPr>
              <a:t>ראו איך זה עובד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57300"/>
            <a:ext cx="8595360" cy="3714750"/>
          </a:xfrm>
          <a:prstGeom prst="rect">
            <a:avLst/>
          </a:prstGeom>
          <a:solidFill>
            <a:srgbClr val="1B4332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2543175"/>
            <a:ext cx="85953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0" b="0" i="0">
                <a:solidFill>
                  <a:srgbClr val="95D5B2"/>
                </a:solidFill>
                <a:latin typeface="Calibri"/>
              </a:rPr>
              <a:t>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457575"/>
            <a:ext cx="859536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95D5B2"/>
                </a:solidFill>
                <a:latin typeface="Calibri"/>
              </a:rPr>
              <a:t>carbontrack_cut.mp4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3886200"/>
            <a:ext cx="8595360" cy="314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8AAA8E"/>
                </a:solidFill>
                <a:latin typeface="Calibri"/>
              </a:rPr>
              <a:t>(פתח את קובץ הווידאו ידנית למצגת)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29146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סימולטור What-If</a:t>
            </a:r>
          </a:p>
        </p:txBody>
      </p:sp>
      <p:pic>
        <p:nvPicPr>
          <p:cNvPr id="4" name="Picture 3" descr="WHAT-I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542925"/>
            <a:ext cx="891540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29146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9144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עוזר AI</a:t>
            </a:r>
          </a:p>
        </p:txBody>
      </p:sp>
      <p:pic>
        <p:nvPicPr>
          <p:cNvPr id="4" name="Picture 3" descr="A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542925"/>
            <a:ext cx="8915400" cy="45148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45148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146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הפתרון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0100"/>
            <a:ext cx="85953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900" b="1" i="0">
                <a:solidFill>
                  <a:srgbClr val="1B4332"/>
                </a:solidFill>
                <a:latin typeface="Calibri"/>
              </a:rPr>
              <a:t>איך זה עובד?</a:t>
            </a:r>
          </a:p>
        </p:txBody>
      </p:sp>
      <p:sp>
        <p:nvSpPr>
          <p:cNvPr id="5" name="Rectangle 4"/>
          <p:cNvSpPr/>
          <p:nvPr/>
        </p:nvSpPr>
        <p:spPr>
          <a:xfrm>
            <a:off x="6172200" y="1188720"/>
            <a:ext cx="26974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papers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2220" y="1371600"/>
            <a:ext cx="2377440" cy="6858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286500" y="2446020"/>
            <a:ext cx="25260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1" i="0">
                <a:solidFill>
                  <a:srgbClr val="1B4332"/>
                </a:solidFill>
                <a:latin typeface="Calibri"/>
              </a:rPr>
              <a:t>העלאת כתב כמויות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86500" y="2960370"/>
            <a:ext cx="252603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0">
                <a:solidFill>
                  <a:srgbClr val="8AAA8E"/>
                </a:solidFill>
                <a:latin typeface="Calibri"/>
              </a:rPr>
              <a:t>מסמך המפרט את כלל העבודות</a:t>
            </a:r>
          </a:p>
          <a:p>
            <a:pPr algn="ctr" rtl="1"/>
            <a:r>
              <a:rPr sz="2000" b="0">
                <a:solidFill>
                  <a:srgbClr val="8AAA8E"/>
                </a:solidFill>
                <a:latin typeface="Calibri"/>
              </a:rPr>
              <a:t>והחומרים הנדרשים למיזם.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20740" y="2308860"/>
            <a:ext cx="2514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 i="0">
                <a:solidFill>
                  <a:srgbClr val="52B788"/>
                </a:solidFill>
                <a:latin typeface="Calibri"/>
              </a:rPr>
              <a:t>←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23260" y="1188720"/>
            <a:ext cx="2697480" cy="2697480"/>
          </a:xfrm>
          <a:prstGeom prst="rect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23260" y="1348740"/>
            <a:ext cx="269748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B4332"/>
                </a:solidFill>
                <a:latin typeface="Calibri"/>
              </a:rPr>
              <a:t>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37560" y="2446020"/>
            <a:ext cx="25260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1" i="0">
                <a:solidFill>
                  <a:srgbClr val="FFFFFF"/>
                </a:solidFill>
                <a:latin typeface="Calibri"/>
              </a:rPr>
              <a:t>חישוב פליטה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37560" y="2960370"/>
            <a:ext cx="252603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0">
                <a:solidFill>
                  <a:srgbClr val="FFFFFF"/>
                </a:solidFill>
                <a:latin typeface="Calibri"/>
              </a:rPr>
              <a:t>ע"י מקדמי המרה בינלאומיים</a:t>
            </a:r>
          </a:p>
          <a:p>
            <a:pPr algn="ctr" rtl="1"/>
            <a:r>
              <a:rPr sz="2000" b="0">
                <a:solidFill>
                  <a:srgbClr val="FFFFFF"/>
                </a:solidFill>
                <a:latin typeface="Calibri"/>
              </a:rPr>
              <a:t>✓ GHG Protocol Approved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71800" y="2308860"/>
            <a:ext cx="2514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0" i="0">
                <a:solidFill>
                  <a:srgbClr val="52B788"/>
                </a:solidFill>
                <a:latin typeface="Calibri"/>
              </a:rPr>
              <a:t>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1188720"/>
            <a:ext cx="2697480" cy="2697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1348740"/>
            <a:ext cx="2697480" cy="8286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6000" b="0" i="0">
                <a:solidFill>
                  <a:srgbClr val="1B4332"/>
                </a:solidFill>
                <a:latin typeface="Calibri"/>
              </a:rP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8620" y="2446020"/>
            <a:ext cx="252603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800" b="1" i="0">
                <a:solidFill>
                  <a:srgbClr val="1B4332"/>
                </a:solidFill>
                <a:latin typeface="Calibri"/>
              </a:rPr>
              <a:t>דאשבורד נתונים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8620" y="2960370"/>
            <a:ext cx="2526030" cy="8115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0">
                <a:solidFill>
                  <a:srgbClr val="8AAA8E"/>
                </a:solidFill>
                <a:latin typeface="Calibri"/>
              </a:rPr>
              <a:t>ניתוח חי לפי פרויקט,</a:t>
            </a:r>
          </a:p>
          <a:p>
            <a:pPr algn="ctr" rtl="1"/>
            <a:r>
              <a:rPr sz="2000" b="0">
                <a:solidFill>
                  <a:srgbClr val="8AAA8E"/>
                </a:solidFill>
                <a:latin typeface="Calibri"/>
              </a:rPr>
              <a:t>חומר וקבלן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45148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146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הטכנולוגיה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0100"/>
            <a:ext cx="85953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900" b="1" i="0">
                <a:solidFill>
                  <a:srgbClr val="1B4332"/>
                </a:solidFill>
                <a:latin typeface="Calibri"/>
              </a:rPr>
              <a:t>מכתב כמויות לדוח פליטות — בדקות</a:t>
            </a:r>
          </a:p>
        </p:txBody>
      </p:sp>
      <p:sp>
        <p:nvSpPr>
          <p:cNvPr id="5" name="Rectangle 4"/>
          <p:cNvSpPr/>
          <p:nvPr/>
        </p:nvSpPr>
        <p:spPr>
          <a:xfrm>
            <a:off x="7287768" y="1228725"/>
            <a:ext cx="1581912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287768" y="1331595"/>
            <a:ext cx="15819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0" i="0">
                <a:solidFill>
                  <a:srgbClr val="1B4332"/>
                </a:solidFill>
                <a:latin typeface="Calibri"/>
              </a:rPr>
              <a:t>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33488" y="2000250"/>
            <a:ext cx="1490472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100" b="1" i="0">
                <a:solidFill>
                  <a:srgbClr val="1B4332"/>
                </a:solidFill>
                <a:latin typeface="Calibri"/>
              </a:rPr>
              <a:t>כתב כמויות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33488" y="2440305"/>
            <a:ext cx="1490472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8AAA8E"/>
                </a:solidFill>
                <a:latin typeface="Calibri"/>
              </a:rPr>
              <a:t>Excel / CSV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16318" y="1857375"/>
            <a:ext cx="1714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2B788"/>
                </a:solidFill>
                <a:latin typeface="Calibri"/>
              </a:rPr>
              <a:t>←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34406" y="1228725"/>
            <a:ext cx="1581912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534406" y="1331595"/>
            <a:ext cx="15819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0" i="0">
                <a:solidFill>
                  <a:srgbClr val="1B4332"/>
                </a:solidFill>
                <a:latin typeface="Calibri"/>
              </a:rPr>
              <a:t>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80126" y="2000250"/>
            <a:ext cx="1490472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100" b="1" i="0">
                <a:solidFill>
                  <a:srgbClr val="1B4332"/>
                </a:solidFill>
                <a:latin typeface="Calibri"/>
              </a:rPr>
              <a:t>זיהוי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80126" y="2440305"/>
            <a:ext cx="1490472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8AAA8E"/>
                </a:solidFill>
                <a:latin typeface="Calibri"/>
              </a:rPr>
              <a:t>NLP הנדסי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62956" y="1857375"/>
            <a:ext cx="1714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2B788"/>
                </a:solidFill>
                <a:latin typeface="Calibri"/>
              </a:rPr>
              <a:t>←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781044" y="1228725"/>
            <a:ext cx="1581912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81044" y="1331595"/>
            <a:ext cx="15819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0" i="0">
                <a:solidFill>
                  <a:srgbClr val="1B4332"/>
                </a:solidFill>
                <a:latin typeface="Calibri"/>
              </a:rPr>
              <a:t>⚖️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26764" y="2000250"/>
            <a:ext cx="1490472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100" b="1" i="0">
                <a:solidFill>
                  <a:srgbClr val="1B4332"/>
                </a:solidFill>
                <a:latin typeface="Calibri"/>
              </a:rPr>
              <a:t>המרת משקל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26764" y="2440305"/>
            <a:ext cx="1490472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8AAA8E"/>
                </a:solidFill>
                <a:latin typeface="Calibri"/>
              </a:rPr>
              <a:t>קטלוג חומרים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09594" y="1857375"/>
            <a:ext cx="1714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2B788"/>
                </a:solidFill>
                <a:latin typeface="Calibri"/>
              </a:rPr>
              <a:t>←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027682" y="1228725"/>
            <a:ext cx="1581912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027682" y="1331595"/>
            <a:ext cx="15819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0" i="0">
                <a:solidFill>
                  <a:srgbClr val="1B4332"/>
                </a:solidFill>
                <a:latin typeface="Calibri"/>
              </a:rPr>
              <a:t>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073402" y="2000250"/>
            <a:ext cx="1490472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100" b="1" i="0">
                <a:solidFill>
                  <a:srgbClr val="1B4332"/>
                </a:solidFill>
                <a:latin typeface="Calibri"/>
              </a:rPr>
              <a:t>חישוב פליטה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73402" y="2440305"/>
            <a:ext cx="1490472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8AAA8E"/>
                </a:solidFill>
                <a:latin typeface="Calibri"/>
              </a:rPr>
              <a:t>ושמירתה ב-DB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56232" y="1857375"/>
            <a:ext cx="171450" cy="3429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52B788"/>
                </a:solidFill>
                <a:latin typeface="Calibri"/>
              </a:rPr>
              <a:t>←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1228725"/>
            <a:ext cx="1581912" cy="1600200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4320" y="1331595"/>
            <a:ext cx="1581912" cy="628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900" b="0" i="0">
                <a:solidFill>
                  <a:srgbClr val="1B4332"/>
                </a:solidFill>
                <a:latin typeface="Calibri"/>
              </a:rPr>
              <a:t>📊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2000250"/>
            <a:ext cx="1490472" cy="428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100" b="1" i="0">
                <a:solidFill>
                  <a:srgbClr val="1B4332"/>
                </a:solidFill>
                <a:latin typeface="Calibri"/>
              </a:rPr>
              <a:t>דוח BI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2440305"/>
            <a:ext cx="1490472" cy="3314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8AAA8E"/>
                </a:solidFill>
                <a:latin typeface="Calibri"/>
              </a:rPr>
              <a:t>דאשבורד חי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612005" y="2943225"/>
            <a:ext cx="4257675" cy="2108835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49165" y="3068955"/>
            <a:ext cx="4029075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2D6A4F"/>
                </a:solidFill>
                <a:latin typeface="Calibri"/>
              </a:rPr>
              <a:t>📈 Self-Learning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49165" y="3469005"/>
            <a:ext cx="4029075" cy="149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8AAA8E"/>
                </a:solidFill>
                <a:latin typeface="Calibri"/>
              </a:rPr>
              <a:t>משתפרת בכל קובץ שנכנס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74320" y="2943225"/>
            <a:ext cx="4257675" cy="2108835"/>
          </a:xfrm>
          <a:prstGeom prst="rect">
            <a:avLst/>
          </a:prstGeom>
          <a:solidFill>
            <a:srgbClr val="FFFFFF"/>
          </a:solidFill>
          <a:ln w="1905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" y="3068955"/>
            <a:ext cx="4029075" cy="3714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2D6A4F"/>
                </a:solidFill>
                <a:latin typeface="Calibri"/>
              </a:rPr>
              <a:t>⚡ ביצועים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" y="3469005"/>
            <a:ext cx="4029075" cy="14916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1600" b="0" i="0">
                <a:solidFill>
                  <a:srgbClr val="8AAA8E"/>
                </a:solidFill>
                <a:latin typeface="Calibri"/>
              </a:rPr>
              <a:t>אלפי שורות בדקות, progress בזמן אמת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709660" y="45148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25146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מפת דרכים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800100"/>
            <a:ext cx="8595360" cy="5143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3900" b="1" i="0">
                <a:solidFill>
                  <a:srgbClr val="1B4332"/>
                </a:solidFill>
                <a:latin typeface="Calibri"/>
              </a:rPr>
              <a:t>מה עשינו ולאן אנחנו הולכים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806065"/>
            <a:ext cx="8229600" cy="4572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18120" y="2646045"/>
            <a:ext cx="365760" cy="36576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818120" y="264604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B4332"/>
                </a:solidFill>
                <a:latin typeface="Calibri"/>
              </a:rP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43775" y="1828800"/>
            <a:ext cx="13144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52B788"/>
                </a:solidFill>
                <a:latin typeface="Calibri"/>
              </a:rPr>
              <a:t>ינו׳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43775" y="2103120"/>
            <a:ext cx="131445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1" i="0">
                <a:solidFill>
                  <a:srgbClr val="1B4332"/>
                </a:solidFill>
                <a:latin typeface="Calibri"/>
              </a:rPr>
              <a:t>PoC ראשוני</a:t>
            </a:r>
          </a:p>
        </p:txBody>
      </p:sp>
      <p:sp>
        <p:nvSpPr>
          <p:cNvPr id="10" name="Oval 9"/>
          <p:cNvSpPr/>
          <p:nvPr/>
        </p:nvSpPr>
        <p:spPr>
          <a:xfrm>
            <a:off x="6446520" y="2646045"/>
            <a:ext cx="365760" cy="36576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46520" y="264604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B4332"/>
                </a:solidFill>
                <a:latin typeface="Calibri"/>
              </a:rPr>
              <a:t>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72175" y="3268980"/>
            <a:ext cx="13144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52B788"/>
                </a:solidFill>
                <a:latin typeface="Calibri"/>
              </a:rPr>
              <a:t>מרץ 2026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72175" y="3543300"/>
            <a:ext cx="131445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1" i="0">
                <a:solidFill>
                  <a:srgbClr val="1B4332"/>
                </a:solidFill>
                <a:latin typeface="Calibri"/>
              </a:rPr>
              <a:t>AI Integration</a:t>
            </a:r>
          </a:p>
        </p:txBody>
      </p:sp>
      <p:sp>
        <p:nvSpPr>
          <p:cNvPr id="14" name="Oval 13"/>
          <p:cNvSpPr/>
          <p:nvPr/>
        </p:nvSpPr>
        <p:spPr>
          <a:xfrm>
            <a:off x="5074920" y="2646045"/>
            <a:ext cx="365760" cy="365760"/>
          </a:xfrm>
          <a:prstGeom prst="ellipse">
            <a:avLst/>
          </a:prstGeom>
          <a:solidFill>
            <a:srgbClr val="1B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74920" y="264604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B4332"/>
                </a:solidFill>
                <a:latin typeface="Calibri"/>
              </a:rPr>
              <a:t>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00575" y="1828800"/>
            <a:ext cx="13144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52B788"/>
                </a:solidFill>
                <a:latin typeface="Calibri"/>
              </a:rPr>
              <a:t>אפר׳ 2026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0575" y="2103120"/>
            <a:ext cx="131445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1" i="0">
                <a:solidFill>
                  <a:srgbClr val="1B4332"/>
                </a:solidFill>
                <a:latin typeface="Calibri"/>
              </a:rPr>
              <a:t>Dashboard MVP</a:t>
            </a:r>
          </a:p>
        </p:txBody>
      </p:sp>
      <p:sp>
        <p:nvSpPr>
          <p:cNvPr id="18" name="Oval 17"/>
          <p:cNvSpPr/>
          <p:nvPr/>
        </p:nvSpPr>
        <p:spPr>
          <a:xfrm>
            <a:off x="3703320" y="2646045"/>
            <a:ext cx="365760" cy="365760"/>
          </a:xfrm>
          <a:prstGeom prst="ellipse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703320" y="264604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B4332"/>
                </a:solidFill>
                <a:latin typeface="Calibri"/>
              </a:rPr>
              <a:t>🔧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514725" y="2348865"/>
            <a:ext cx="742950" cy="251460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514725" y="2360295"/>
            <a:ext cx="742950" cy="2514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1" i="0">
                <a:solidFill>
                  <a:srgbClr val="FFFFFF"/>
                </a:solidFill>
                <a:latin typeface="Calibri"/>
              </a:rPr>
              <a:t>📍 היום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28975" y="3268980"/>
            <a:ext cx="13144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52B788"/>
                </a:solidFill>
                <a:latin typeface="Calibri"/>
              </a:rPr>
              <a:t>מאי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28975" y="3543300"/>
            <a:ext cx="131445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1" i="0">
                <a:solidFill>
                  <a:srgbClr val="1B4332"/>
                </a:solidFill>
                <a:latin typeface="Calibri"/>
              </a:rPr>
              <a:t>Pilot נתיבי ישראל</a:t>
            </a:r>
          </a:p>
        </p:txBody>
      </p:sp>
      <p:sp>
        <p:nvSpPr>
          <p:cNvPr id="24" name="Oval 23"/>
          <p:cNvSpPr/>
          <p:nvPr/>
        </p:nvSpPr>
        <p:spPr>
          <a:xfrm>
            <a:off x="2331720" y="2646045"/>
            <a:ext cx="365760" cy="365760"/>
          </a:xfrm>
          <a:prstGeom prst="ellipse">
            <a:avLst/>
          </a:prstGeom>
          <a:solidFill>
            <a:srgbClr val="8AA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264604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B4332"/>
                </a:solidFill>
                <a:latin typeface="Calibri"/>
              </a:rP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857375" y="1828800"/>
            <a:ext cx="13144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52B788"/>
                </a:solidFill>
                <a:latin typeface="Calibri"/>
              </a:rPr>
              <a:t>2026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57375" y="2103120"/>
            <a:ext cx="131445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1" i="0">
                <a:solidFill>
                  <a:srgbClr val="1B4332"/>
                </a:solidFill>
                <a:latin typeface="Calibri"/>
              </a:rPr>
              <a:t>הטמעה בנתיבי ישראל</a:t>
            </a:r>
          </a:p>
        </p:txBody>
      </p:sp>
      <p:sp>
        <p:nvSpPr>
          <p:cNvPr id="28" name="Oval 27"/>
          <p:cNvSpPr/>
          <p:nvPr/>
        </p:nvSpPr>
        <p:spPr>
          <a:xfrm>
            <a:off x="960120" y="2646045"/>
            <a:ext cx="365760" cy="365760"/>
          </a:xfrm>
          <a:prstGeom prst="ellipse">
            <a:avLst/>
          </a:prstGeom>
          <a:solidFill>
            <a:srgbClr val="8AAA8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0120" y="2646045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0" i="0">
                <a:solidFill>
                  <a:srgbClr val="1B4332"/>
                </a:solidFill>
                <a:latin typeface="Calibri"/>
              </a:rPr>
              <a:t>🏗️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5775" y="3268980"/>
            <a:ext cx="131445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600" b="0" i="0">
                <a:solidFill>
                  <a:srgbClr val="52B788"/>
                </a:solidFill>
                <a:latin typeface="Calibri"/>
              </a:rPr>
              <a:t>2027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5775" y="3543300"/>
            <a:ext cx="1314450" cy="5429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2000" b="1" i="0">
                <a:solidFill>
                  <a:srgbClr val="1B4332"/>
                </a:solidFill>
                <a:latin typeface="Calibri"/>
              </a:rPr>
              <a:t>חברות תשתית נוספות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85775" y="4103370"/>
            <a:ext cx="1314450" cy="285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500" b="0" i="0">
                <a:solidFill>
                  <a:srgbClr val="8AAA8E"/>
                </a:solidFill>
                <a:latin typeface="Calibri"/>
              </a:rPr>
              <a:t>רכבת ישראל, מקורות ועוד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857750" y="971550"/>
            <a:ext cx="1485900" cy="1485900"/>
          </a:xfrm>
          <a:prstGeom prst="ellipse">
            <a:avLst/>
          </a:prstGeom>
          <a:solidFill>
            <a:srgbClr val="21A853"/>
          </a:solidFill>
          <a:ln w="38100">
            <a:solidFill>
              <a:srgbClr val="34A85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857750" y="1285875"/>
            <a:ext cx="1485900" cy="1171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0" b="0" i="0">
                <a:solidFill>
                  <a:srgbClr val="1B4332"/>
                </a:solidFill>
                <a:latin typeface="Calibri"/>
              </a:rPr>
              <a:t>💰</a:t>
            </a:r>
          </a:p>
        </p:txBody>
      </p:sp>
      <p:sp>
        <p:nvSpPr>
          <p:cNvPr id="4" name="Oval 3"/>
          <p:cNvSpPr/>
          <p:nvPr/>
        </p:nvSpPr>
        <p:spPr>
          <a:xfrm>
            <a:off x="2800350" y="971550"/>
            <a:ext cx="1485900" cy="1485900"/>
          </a:xfrm>
          <a:prstGeom prst="ellipse">
            <a:avLst/>
          </a:prstGeom>
          <a:solidFill>
            <a:srgbClr val="1B4332"/>
          </a:solidFill>
          <a:ln w="38100">
            <a:solidFill>
              <a:srgbClr val="1B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00350" y="1285875"/>
            <a:ext cx="1485900" cy="1171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0" b="0" i="0">
                <a:solidFill>
                  <a:srgbClr val="1B4332"/>
                </a:solidFill>
                <a:latin typeface="Calibri"/>
              </a:rPr>
              <a:t>🏛️</a:t>
            </a:r>
          </a:p>
        </p:txBody>
      </p:sp>
      <p:sp>
        <p:nvSpPr>
          <p:cNvPr id="6" name="Oval 5"/>
          <p:cNvSpPr/>
          <p:nvPr/>
        </p:nvSpPr>
        <p:spPr>
          <a:xfrm>
            <a:off x="3829050" y="2686050"/>
            <a:ext cx="1485900" cy="1485900"/>
          </a:xfrm>
          <a:prstGeom prst="ellipse">
            <a:avLst/>
          </a:prstGeom>
          <a:solidFill>
            <a:srgbClr val="52B788"/>
          </a:solidFill>
          <a:ln w="38100">
            <a:solidFill>
              <a:srgbClr val="52B7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29050" y="3000375"/>
            <a:ext cx="1485900" cy="11715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0" b="0" i="0">
                <a:solidFill>
                  <a:srgbClr val="1B4332"/>
                </a:solidFill>
                <a:latin typeface="Calibri"/>
              </a:rPr>
              <a:t>🤖</a:t>
            </a:r>
          </a:p>
        </p:txBody>
      </p:sp>
      <p:sp>
        <p:nvSpPr>
          <p:cNvPr id="8" name="Oval 7"/>
          <p:cNvSpPr/>
          <p:nvPr/>
        </p:nvSpPr>
        <p:spPr>
          <a:xfrm>
            <a:off x="4143375" y="1911096"/>
            <a:ext cx="857250" cy="857250"/>
          </a:xfrm>
          <a:prstGeom prst="ellipse">
            <a:avLst/>
          </a:prstGeom>
          <a:solidFill>
            <a:srgbClr val="FFFFFF"/>
          </a:solidFill>
          <a:ln w="38100">
            <a:solidFill>
              <a:srgbClr val="95D5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3375" y="1911096"/>
            <a:ext cx="857250" cy="8572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2E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228600"/>
            <a:ext cx="2228850" cy="4686300"/>
          </a:xfrm>
          <a:prstGeom prst="rect">
            <a:avLst/>
          </a:prstGeom>
          <a:solidFill>
            <a:srgbClr val="FFFFFF"/>
          </a:solidFill>
          <a:ln w="25400">
            <a:solidFill>
              <a:srgbClr val="C8DD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342900"/>
            <a:ext cx="222885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B4332"/>
                </a:solidFill>
                <a:latin typeface="Calibri"/>
              </a:rPr>
              <a:t>SCAN ME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340" y="617220"/>
            <a:ext cx="1908810" cy="19088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8620" y="4171950"/>
            <a:ext cx="20574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rtl="1"/>
            <a:r>
              <a:rPr sz="1200" b="0">
                <a:solidFill>
                  <a:srgbClr val="1B4332"/>
                </a:solidFill>
                <a:latin typeface="Calibri"/>
              </a:rPr>
              <a:t>שם משתמש: example@netivei.co.il</a:t>
            </a:r>
          </a:p>
          <a:p>
            <a:pPr algn="ctr" rtl="1"/>
            <a:r>
              <a:rPr sz="1200" b="0">
                <a:solidFill>
                  <a:srgbClr val="1B4332"/>
                </a:solidFill>
                <a:latin typeface="Calibri"/>
              </a:rPr>
              <a:t>סיסמה: 123456</a:t>
            </a:r>
          </a:p>
        </p:txBody>
      </p:sp>
      <p:sp>
        <p:nvSpPr>
          <p:cNvPr id="6" name="Rectangle 5"/>
          <p:cNvSpPr/>
          <p:nvPr/>
        </p:nvSpPr>
        <p:spPr>
          <a:xfrm>
            <a:off x="8709660" y="542925"/>
            <a:ext cx="160020" cy="28575"/>
          </a:xfrm>
          <a:prstGeom prst="rect">
            <a:avLst/>
          </a:prstGeom>
          <a:solidFill>
            <a:srgbClr val="52B7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342900"/>
            <a:ext cx="8378190" cy="4800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6300" b="1" i="0">
                <a:solidFill>
                  <a:srgbClr val="52B788"/>
                </a:solidFill>
                <a:latin typeface="Calibri"/>
              </a:rPr>
              <a:t>מוזמנים להתרשם!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46070" y="800100"/>
            <a:ext cx="6023610" cy="25717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4800" b="1">
                <a:solidFill>
                  <a:srgbClr val="1B4332"/>
                </a:solidFill>
                <a:latin typeface="Calibri"/>
              </a:rPr>
              <a:t>אי אפשר לצמצם</a:t>
            </a:r>
          </a:p>
          <a:p>
            <a:pPr algn="r" rtl="1"/>
            <a:r>
              <a:rPr sz="4800" b="1">
                <a:solidFill>
                  <a:srgbClr val="1B4332"/>
                </a:solidFill>
                <a:latin typeface="Calibri"/>
              </a:rPr>
              <a:t>את מה שלא מודדים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46070" y="3486150"/>
            <a:ext cx="6023610" cy="4000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 rtl="1"/>
            <a:r>
              <a:rPr sz="2100" b="1" i="0">
                <a:solidFill>
                  <a:srgbClr val="52B788"/>
                </a:solidFill>
                <a:latin typeface="Calibri"/>
              </a:rPr>
              <a:t>CarbonTrack — נתיבי ישראל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